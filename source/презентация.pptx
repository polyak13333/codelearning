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Inter" panose="020B0604020202020204" charset="0"/>
      <p:regular r:id="rId11"/>
    </p:embeddedFont>
    <p:embeddedFont>
      <p:font typeface="Inter Bold" panose="020B0604020202020204" charset="0"/>
      <p:regular r:id="rId1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5037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76722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Мобильное приложение «Изучаем программирование»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18284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Пазл-тренажер кода на ОС Android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209330"/>
            <a:ext cx="1348234" cy="266402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251820"/>
            <a:ext cx="163532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ШКОЛА SAMSUNG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915195" y="3204567"/>
            <a:ext cx="1841599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05013" y="3251820"/>
            <a:ext cx="211916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ИНДИВИДУАЛЬНЫЙ ПРОЕКТ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96119" y="3639964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Автор: </a:t>
            </a:r>
            <a:r>
              <a:rPr lang="ru-RU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Поляков Владислав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19286"/>
            <a:ext cx="578108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Актуальность и цель проекта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1663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Проблема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879848"/>
            <a:ext cx="390294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Начинающие программисты испытывают трудности с визуализацией логики выполнения кода и понимания синтаксиса. Изучение теории без практического применения не формирует четкого представления о структуре программ.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3141464"/>
            <a:ext cx="3902943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Сложность освоения циклов и условных операторов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Отсутствие интуитивного понимания последовательности кода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Недостаток интерактивных инструментов обучения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7605" y="1374874"/>
            <a:ext cx="4107135" cy="3049339"/>
          </a:xfrm>
          <a:prstGeom prst="roundRect">
            <a:avLst>
              <a:gd name="adj" fmla="val 3347"/>
            </a:avLst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4789363" y="151663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Решение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9363" y="1879848"/>
            <a:ext cx="3823618" cy="14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Игровое Android-приложение с геймифицированным подходом к обучению программированию на Java.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Цель:</a:t>
            </a: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Создать интерактивный тренажер, позволяющий собирать блоки кода в правильной последовательности с мгновенной проверкой результата.</a:t>
            </a:r>
            <a:endParaRPr lang="en-US" sz="11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958E211-B065-D4C0-1E2A-E94C62D03D21}"/>
              </a:ext>
            </a:extLst>
          </p:cNvPr>
          <p:cNvSpPr/>
          <p:nvPr/>
        </p:nvSpPr>
        <p:spPr>
          <a:xfrm>
            <a:off x="8030308" y="4794738"/>
            <a:ext cx="1060938" cy="3048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bg1"/>
                </a:solidFill>
              </a:ln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49610" y="413965"/>
            <a:ext cx="4815780" cy="80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Функционал и архитектура интерфейса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49610" y="1391469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49610" y="1595512"/>
            <a:ext cx="2349698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6" name="Text 3"/>
          <p:cNvSpPr/>
          <p:nvPr/>
        </p:nvSpPr>
        <p:spPr>
          <a:xfrm>
            <a:off x="449610" y="1688306"/>
            <a:ext cx="222661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Окно виртуальной консоли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49610" y="1958801"/>
            <a:ext cx="2349698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Отображает ожидаемый результат выполнения программы, который должен получить пользователь после правильной сборки кода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915692" y="1391469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915692" y="1595512"/>
            <a:ext cx="2349698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0" name="Text 7"/>
          <p:cNvSpPr/>
          <p:nvPr/>
        </p:nvSpPr>
        <p:spPr>
          <a:xfrm>
            <a:off x="2915692" y="1688306"/>
            <a:ext cx="232849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Набор перемешанных строк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915692" y="1958801"/>
            <a:ext cx="2349698" cy="9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Случайно упорядоченные фрагменты исходного кода Java, реализованные через RecyclerView для динамического управления элементами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49610" y="3151138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9610" y="3355181"/>
            <a:ext cx="4815780" cy="14288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1"/>
          <p:cNvSpPr/>
          <p:nvPr/>
        </p:nvSpPr>
        <p:spPr>
          <a:xfrm>
            <a:off x="449610" y="3447976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Зона сборки ответа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49610" y="3718471"/>
            <a:ext cx="481578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Интерактивная область для конструирования правильной последовательности кода с системой проверки и подсчета баллов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9610" y="4337596"/>
            <a:ext cx="4815780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Экран разделен на три адаптивные части с использованием LinearLayout и системы весов для оптимального размещения на различных устройствах.</a:t>
            </a:r>
            <a:endParaRPr lang="en-US" sz="10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84708F0-4B2F-40A8-DDB9-D7AB8CC25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358" y="0"/>
            <a:ext cx="316205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377726"/>
            <a:ext cx="5110386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Механика взаимодействия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37" y="1700436"/>
            <a:ext cx="5152504" cy="23581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20018" y="3498567"/>
            <a:ext cx="1195934" cy="18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Результат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000912" y="3498567"/>
            <a:ext cx="1195934" cy="18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Проверка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2017032" y="3405394"/>
            <a:ext cx="967334" cy="372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Перемещение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78049" y="3405394"/>
            <a:ext cx="967334" cy="372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Выбор строки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020767" y="1121941"/>
            <a:ext cx="21461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Игровая логика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20767" y="1461790"/>
            <a:ext cx="2655094" cy="1823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Перемещение строк кода между RecyclerView по клику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из трех попыток на каждую задачу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Динамический подсчет баллов с учетом штрафов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Мгновенная обратная связь при проверке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20767" y="3430637"/>
            <a:ext cx="2655094" cy="1190253"/>
          </a:xfrm>
          <a:prstGeom prst="roundRect">
            <a:avLst>
              <a:gd name="adj" fmla="val 4768"/>
            </a:avLst>
          </a:prstGeom>
          <a:solidFill>
            <a:srgbClr val="B6D6F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829" y="3633564"/>
            <a:ext cx="168846" cy="1350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59736" y="3593083"/>
            <a:ext cx="2081064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Каждая ошибка снижает финальный балл, мотивируя пользователя думать перед проверкой решения</a:t>
            </a:r>
            <a:endParaRPr lang="en-US" sz="10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F64F610-F3B2-E91A-D6CD-51C74B5803AB}"/>
              </a:ext>
            </a:extLst>
          </p:cNvPr>
          <p:cNvSpPr/>
          <p:nvPr/>
        </p:nvSpPr>
        <p:spPr>
          <a:xfrm>
            <a:off x="8030308" y="4794738"/>
            <a:ext cx="1060938" cy="3048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bg1"/>
                </a:solidFill>
              </a:ln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9452" y="292968"/>
            <a:ext cx="429012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Технологический стек проекта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1209452" y="731416"/>
            <a:ext cx="2197001" cy="659904"/>
          </a:xfrm>
          <a:prstGeom prst="roundRect">
            <a:avLst>
              <a:gd name="adj" fmla="val 620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11622" y="833586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Android Studio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311622" y="1026021"/>
            <a:ext cx="1992660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Официальная IDE для разработки приложений на платформе Android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473425" y="731416"/>
            <a:ext cx="2197001" cy="659904"/>
          </a:xfrm>
          <a:prstGeom prst="roundRect">
            <a:avLst>
              <a:gd name="adj" fmla="val 620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75596" y="833586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Java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575596" y="1026021"/>
            <a:ext cx="1992660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Основной язык программирования проекта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737399" y="731416"/>
            <a:ext cx="2197001" cy="659904"/>
          </a:xfrm>
          <a:prstGeom prst="roundRect">
            <a:avLst>
              <a:gd name="adj" fmla="val 620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39569" y="833586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Android SDK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839569" y="1026021"/>
            <a:ext cx="1992660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уровня 26+ для обеспечения совместимости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209452" y="1491779"/>
            <a:ext cx="1958876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Архитектурный паттерн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09452" y="1744489"/>
            <a:ext cx="672502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проекте реализованы элементы </a:t>
            </a: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MVC (Model-View-Controller)</a:t>
            </a: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для четкого разделения логики приложения, представления данных и управления взаимодействием.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209452" y="2108076"/>
            <a:ext cx="16755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UI Компоненты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09452" y="3062585"/>
            <a:ext cx="2199233" cy="1122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RecyclerView</a:t>
            </a: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для динамических списков строк кода</a:t>
            </a:r>
            <a:endParaRPr lang="en-US" sz="75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CodeAdapter</a:t>
            </a: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кастомный адаптер управления элементами</a:t>
            </a:r>
            <a:endParaRPr lang="en-US" sz="75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CardView</a:t>
            </a: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визуальное оформление блоков кода</a:t>
            </a:r>
            <a:endParaRPr lang="en-US" sz="750" dirty="0"/>
          </a:p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LinearLayout</a:t>
            </a: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адаптивная система весов интерфейса</a:t>
            </a:r>
            <a:endParaRPr lang="en-US" sz="7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1126" y="2436168"/>
            <a:ext cx="4288036" cy="2338908"/>
          </a:xfrm>
          <a:prstGeom prst="rect">
            <a:avLst/>
          </a:pr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B38655F-6F70-CEAF-9D48-EF05213ABB42}"/>
              </a:ext>
            </a:extLst>
          </p:cNvPr>
          <p:cNvSpPr/>
          <p:nvPr/>
        </p:nvSpPr>
        <p:spPr>
          <a:xfrm>
            <a:off x="8030308" y="4794738"/>
            <a:ext cx="1060938" cy="3048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bg1"/>
                </a:solidFill>
              </a:ln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521791"/>
            <a:ext cx="7631981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Система хранения данных — Room Database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41871" y="1197397"/>
            <a:ext cx="339737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Архитектура локального хранилища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41871" y="1507108"/>
            <a:ext cx="3976092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Реализована полноценная реляционная база данных SQLite с использованием библиотеки </a:t>
            </a: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современного ORM-решения для Android.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41871" y="2192387"/>
            <a:ext cx="2563639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Компоненты базы данных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1871" y="2502098"/>
            <a:ext cx="3976092" cy="1263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TaskEntity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класс-сущность, описывающий структуру задачи</a:t>
            </a:r>
            <a:endParaRPr lang="en-US" sz="9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TaskDao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интерфейс SQL-запросов для работы с данными</a:t>
            </a:r>
            <a:endParaRPr lang="en-US" sz="9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Converters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конвертер типов для сохранения List&lt;String&gt; в текстовом формате</a:t>
            </a:r>
            <a:endParaRPr lang="en-US" sz="95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AppDatabase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синглтон для управления экземпляром БД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41871" y="3931444"/>
            <a:ext cx="8260259" cy="690190"/>
          </a:xfrm>
          <a:prstGeom prst="roundRect">
            <a:avLst>
              <a:gd name="adj" fmla="val 7683"/>
            </a:avLst>
          </a:prstGeom>
          <a:solidFill>
            <a:srgbClr val="B6FCB8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77" y="4121646"/>
            <a:ext cx="157758" cy="12620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2041" y="4075435"/>
            <a:ext cx="7723882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Автоматическая инициализация базы данных при первом запуске с пулом из 3 уровней сложности и циклической сменой задач</a:t>
            </a:r>
            <a:endParaRPr lang="en-US" sz="95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1F6F5A4-768C-E343-5B90-4D6A33BBE210}"/>
              </a:ext>
            </a:extLst>
          </p:cNvPr>
          <p:cNvSpPr/>
          <p:nvPr/>
        </p:nvSpPr>
        <p:spPr>
          <a:xfrm>
            <a:off x="8030308" y="4794738"/>
            <a:ext cx="1060938" cy="3048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bg1"/>
                </a:solidFill>
              </a:ln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7906677-9141-DA26-6E30-81E3518F7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6728" y="1082129"/>
            <a:ext cx="3690865" cy="20479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325115"/>
            <a:ext cx="7371159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Творческий потенциал и решение технических задач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056605" y="789905"/>
            <a:ext cx="3478709" cy="1039564"/>
          </a:xfrm>
          <a:prstGeom prst="roundRect">
            <a:avLst>
              <a:gd name="adj" fmla="val 6597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318" y="789905"/>
            <a:ext cx="57150" cy="1039564"/>
          </a:xfrm>
          <a:prstGeom prst="roundRect">
            <a:avLst>
              <a:gd name="adj" fmla="val 74884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1215628" y="906066"/>
            <a:ext cx="2478509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Проблема: Зависание XML-редактора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15628" y="1109216"/>
            <a:ext cx="3203525" cy="604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Кэш IDE вызывал конфликты при редактировании макетов интерфейса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Решение:</a:t>
            </a: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Применение функции Invalidate Caches / Restart в Android Studio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608537" y="789905"/>
            <a:ext cx="3478783" cy="1039564"/>
          </a:xfrm>
          <a:prstGeom prst="roundRect">
            <a:avLst>
              <a:gd name="adj" fmla="val 6597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94250" y="789905"/>
            <a:ext cx="57150" cy="1039564"/>
          </a:xfrm>
          <a:prstGeom prst="roundRect">
            <a:avLst>
              <a:gd name="adj" fmla="val 74884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4767560" y="906066"/>
            <a:ext cx="2658219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Проблема: Ошибка автогенерации R.java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67560" y="1109216"/>
            <a:ext cx="3203600" cy="604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Конфликт пространств имен препятствовал компиляции служебного класса ресурсов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Решение:</a:t>
            </a: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Комплексная очистка через Repair IDE и полная пересборка модулей Gradle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56605" y="1939305"/>
            <a:ext cx="2011040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Приобретенные навыки</a:t>
            </a:r>
            <a:endParaRPr lang="en-US" sz="10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05" y="2290763"/>
            <a:ext cx="4482926" cy="24451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792837" y="2782044"/>
            <a:ext cx="2299171" cy="1502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Проектирование адаптивного пользовательского интерфейса</a:t>
            </a:r>
            <a:endParaRPr lang="en-US" sz="800" dirty="0"/>
          </a:p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 с RecyclerView и кастомными адаптерами</a:t>
            </a:r>
            <a:endParaRPr lang="en-US" sz="800" dirty="0"/>
          </a:p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Интеграция ORM-библиотеки Room для локального хранилища</a:t>
            </a:r>
            <a:endParaRPr lang="en-US" sz="800" dirty="0"/>
          </a:p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Отладка Gradle-скриптов и разрешение конфликтов зависимостей</a:t>
            </a:r>
            <a:endParaRPr lang="en-US" sz="800" dirty="0"/>
          </a:p>
          <a:p>
            <a:pPr marL="342900" indent="-342900" algn="l">
              <a:lnSpc>
                <a:spcPct val="115000"/>
              </a:lnSpc>
              <a:buSzPct val="100000"/>
              <a:buChar char="•"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Тестирование на эмуляторе Pixel 8 с API 34</a:t>
            </a:r>
            <a:endParaRPr lang="en-US" sz="80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7F384F5-5376-202C-92F3-1181F168F0B1}"/>
              </a:ext>
            </a:extLst>
          </p:cNvPr>
          <p:cNvSpPr/>
          <p:nvPr/>
        </p:nvSpPr>
        <p:spPr>
          <a:xfrm>
            <a:off x="8030308" y="4794738"/>
            <a:ext cx="1060938" cy="3048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bg1"/>
                </a:solidFill>
              </a:ln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48321"/>
            <a:ext cx="546928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Заключение и перспективы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174825"/>
            <a:ext cx="8151763" cy="1520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Разработанное мобильное приложение успешно демонстрирует инновационный подход к изучению Java, превращая сложный процесс в увлекательную игру. Проект подтвердил жизнеспособность геймифицированного обучения и интерактивного взаимодействия с кодом.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ходе работы были освоены ключевые аспекты Android-разработки, включая проектирование адаптивных интерфейсов, управление локальными базами данных и оптимизацию производительности. Это открывает путь для дальнейшего расширения функционала и внедрения новых образовательных модулей.</a:t>
            </a:r>
            <a:endParaRPr lang="en-US" sz="11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55D736B-044C-CD91-57F5-1FF2A97FA89E}"/>
              </a:ext>
            </a:extLst>
          </p:cNvPr>
          <p:cNvSpPr/>
          <p:nvPr/>
        </p:nvSpPr>
        <p:spPr>
          <a:xfrm>
            <a:off x="8030308" y="4794738"/>
            <a:ext cx="1060938" cy="3048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ln>
                <a:solidFill>
                  <a:schemeClr val="bg1"/>
                </a:solidFill>
              </a:ln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537</Words>
  <Application>Microsoft Office PowerPoint</Application>
  <PresentationFormat>Экран (16:9)</PresentationFormat>
  <Paragraphs>83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Inter Bold</vt:lpstr>
      <vt:lpstr>Inter</vt:lpstr>
      <vt:lpstr>Inter Light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Влад</dc:creator>
  <cp:lastModifiedBy>Влад</cp:lastModifiedBy>
  <cp:revision>2</cp:revision>
  <dcterms:created xsi:type="dcterms:W3CDTF">2026-05-23T07:18:02Z</dcterms:created>
  <dcterms:modified xsi:type="dcterms:W3CDTF">2026-05-23T07:22:19Z</dcterms:modified>
</cp:coreProperties>
</file>